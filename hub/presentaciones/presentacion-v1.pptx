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E0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MICORREO · CORREO ARGENTINO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Mis gestiones — de "Reclamos" a un modelo por categorías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33375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7D0EA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Propuesta de pantalla: categorías, tipos de usuario, búsqueda inteligente y transparencia sobre qué es real y qué todavía no.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43434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4343400"/>
            <a:ext cx="1152144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Categorías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56232" y="434340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E0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›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075688" y="43434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093976" y="4343400"/>
            <a:ext cx="1700784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Tipos de usuario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94760" y="434340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E0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›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14216" y="434340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032504" y="4343400"/>
            <a:ext cx="969264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Búsqueda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01768" y="434340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E0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›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221224" y="43434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239512" y="4343400"/>
            <a:ext cx="1426464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Transparencia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pic>
        <p:nvPicPr>
          <p:cNvPr id="4" name="Image 0" descr="C:\MLOF 01\VORTEX\CORREO ARGENTINO\Reclamos\Reclamos claude\hub\assets\CorreoArgentino-MiCorr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"/>
            <a:ext cx="1672699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12779" y="54864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Objetivo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1408176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960120"/>
            <a:ext cx="1316736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OBJETIVO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Rediseño de la pantalla de gestiones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48640" y="210312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La pantalla se rediseñó reemplazando el listado plano de motivos por 7 categorías de producto/servicio, con reglas propias de visibilidad según el tipo de usuario.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406640" y="960120"/>
            <a:ext cx="4206240" cy="512064"/>
          </a:xfrm>
          <a:prstGeom prst="roundRect">
            <a:avLst>
              <a:gd name="adj" fmla="val 16071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7589520" y="96012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Las 7 categorías y su contenido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06640" y="1581912"/>
            <a:ext cx="4206240" cy="512064"/>
          </a:xfrm>
          <a:prstGeom prst="roundRect">
            <a:avLst>
              <a:gd name="adj" fmla="val 16071"/>
            </a:avLst>
          </a:prstGeom>
          <a:solidFill>
            <a:srgbClr val="F2F2F2"/>
          </a:solidFill>
          <a:ln/>
        </p:spPr>
      </p:sp>
      <p:sp>
        <p:nvSpPr>
          <p:cNvPr id="13" name="Text 10"/>
          <p:cNvSpPr/>
          <p:nvPr/>
        </p:nvSpPr>
        <p:spPr>
          <a:xfrm>
            <a:off x="7589520" y="158191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Tipos de usuario y qué categorías ven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406640" y="2203704"/>
            <a:ext cx="4206240" cy="512064"/>
          </a:xfrm>
          <a:prstGeom prst="roundRect">
            <a:avLst>
              <a:gd name="adj" fmla="val 16071"/>
            </a:avLst>
          </a:prstGeom>
          <a:solidFill>
            <a:srgbClr val="F2F2F2"/>
          </a:solidFill>
          <a:ln/>
        </p:spPr>
      </p:sp>
      <p:sp>
        <p:nvSpPr>
          <p:cNvPr id="15" name="Text 12"/>
          <p:cNvSpPr/>
          <p:nvPr/>
        </p:nvSpPr>
        <p:spPr>
          <a:xfrm>
            <a:off x="7589520" y="220370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Búsqueda por tags y sinónimos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406640" y="2825496"/>
            <a:ext cx="4206240" cy="512064"/>
          </a:xfrm>
          <a:prstGeom prst="roundRect">
            <a:avLst>
              <a:gd name="adj" fmla="val 16071"/>
            </a:avLst>
          </a:prstGeom>
          <a:solidFill>
            <a:srgbClr val="F2F2F2"/>
          </a:solidFill>
          <a:ln/>
        </p:spPr>
      </p:sp>
      <p:sp>
        <p:nvSpPr>
          <p:cNvPr id="17" name="Text 14"/>
          <p:cNvSpPr/>
          <p:nvPr/>
        </p:nvSpPr>
        <p:spPr>
          <a:xfrm>
            <a:off x="7589520" y="2825496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Qué es confirmado, inferido o inventado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406640" y="3447288"/>
            <a:ext cx="4206240" cy="512064"/>
          </a:xfrm>
          <a:prstGeom prst="roundRect">
            <a:avLst>
              <a:gd name="adj" fmla="val 16071"/>
            </a:avLst>
          </a:prstGeom>
          <a:solidFill>
            <a:srgbClr val="F2F2F2"/>
          </a:solidFill>
          <a:ln/>
        </p:spPr>
      </p:sp>
      <p:sp>
        <p:nvSpPr>
          <p:cNvPr id="19" name="Text 16"/>
          <p:cNvSpPr/>
          <p:nvPr/>
        </p:nvSpPr>
        <p:spPr>
          <a:xfrm>
            <a:off x="7589520" y="344728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✓  </a:t>
            </a:r>
            <a:pPr indent="0" marL="0"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Adaptación a smartphone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pic>
        <p:nvPicPr>
          <p:cNvPr id="4" name="Image 0" descr="C:\MLOF 01\VORTEX\CORREO ARGENTINO\Reclamos\Reclamos claude\hub\assets\CorreoArgentino-MiCorr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"/>
            <a:ext cx="1672699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12779" y="54864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Recorrido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3012948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960120"/>
            <a:ext cx="2921508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CINCO IDEAS CENTRALES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El modelo tiene dos niveles independientes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48640" y="198424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Por un lado, qué gestiones agrupa cada categoría. Por otro, qué categorías puede ver cada tipo de usuario. Son reglas distintas, editables por separado.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761488"/>
            <a:ext cx="2084832" cy="2194560"/>
          </a:xfrm>
          <a:prstGeom prst="roundRect">
            <a:avLst>
              <a:gd name="adj" fmla="val 3509"/>
            </a:avLst>
          </a:prstGeom>
          <a:solidFill>
            <a:srgbClr val="F2F2F2"/>
          </a:solidFill>
          <a:ln/>
        </p:spPr>
      </p:sp>
      <p:sp>
        <p:nvSpPr>
          <p:cNvPr id="11" name="Shape 8"/>
          <p:cNvSpPr/>
          <p:nvPr/>
        </p:nvSpPr>
        <p:spPr>
          <a:xfrm>
            <a:off x="749808" y="2962656"/>
            <a:ext cx="384048" cy="384048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" y="2962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3447288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Categorías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31520" y="3813048"/>
            <a:ext cx="1719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7 categorías reemplazan el listado plano de 19 motivos.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779776" y="2761488"/>
            <a:ext cx="2084832" cy="2194560"/>
          </a:xfrm>
          <a:prstGeom prst="roundRect">
            <a:avLst>
              <a:gd name="adj" fmla="val 3509"/>
            </a:avLst>
          </a:prstGeom>
          <a:solidFill>
            <a:srgbClr val="F2F2F2"/>
          </a:solidFill>
          <a:ln/>
        </p:spPr>
      </p:sp>
      <p:sp>
        <p:nvSpPr>
          <p:cNvPr id="16" name="Shape 13"/>
          <p:cNvSpPr/>
          <p:nvPr/>
        </p:nvSpPr>
        <p:spPr>
          <a:xfrm>
            <a:off x="2980944" y="2962656"/>
            <a:ext cx="384048" cy="384048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17" name="Text 14"/>
          <p:cNvSpPr/>
          <p:nvPr/>
        </p:nvSpPr>
        <p:spPr>
          <a:xfrm>
            <a:off x="2980944" y="2962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962656" y="3447288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Tipos de usuario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2962656" y="3813048"/>
            <a:ext cx="1719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4 perfiles deciden qué categorías (chips) se muestran.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10912" y="2761488"/>
            <a:ext cx="2084832" cy="2194560"/>
          </a:xfrm>
          <a:prstGeom prst="roundRect">
            <a:avLst>
              <a:gd name="adj" fmla="val 3509"/>
            </a:avLst>
          </a:prstGeom>
          <a:solidFill>
            <a:srgbClr val="F2F2F2"/>
          </a:solidFill>
          <a:ln/>
        </p:spPr>
      </p:sp>
      <p:sp>
        <p:nvSpPr>
          <p:cNvPr id="21" name="Shape 18"/>
          <p:cNvSpPr/>
          <p:nvPr/>
        </p:nvSpPr>
        <p:spPr>
          <a:xfrm>
            <a:off x="5212080" y="2962656"/>
            <a:ext cx="384048" cy="384048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22" name="Text 19"/>
          <p:cNvSpPr/>
          <p:nvPr/>
        </p:nvSpPr>
        <p:spPr>
          <a:xfrm>
            <a:off x="5212080" y="2962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193792" y="3447288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Buscador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193792" y="3813048"/>
            <a:ext cx="1719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Tags de sinónimo y el nombre de la categoría también matchean.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242048" y="2761488"/>
            <a:ext cx="2084832" cy="2194560"/>
          </a:xfrm>
          <a:prstGeom prst="roundRect">
            <a:avLst>
              <a:gd name="adj" fmla="val 3509"/>
            </a:avLst>
          </a:prstGeom>
          <a:solidFill>
            <a:srgbClr val="F2F2F2"/>
          </a:solidFill>
          <a:ln/>
        </p:spPr>
      </p:sp>
      <p:sp>
        <p:nvSpPr>
          <p:cNvPr id="26" name="Shape 23"/>
          <p:cNvSpPr/>
          <p:nvPr/>
        </p:nvSpPr>
        <p:spPr>
          <a:xfrm>
            <a:off x="7443216" y="2962656"/>
            <a:ext cx="384048" cy="384048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27" name="Text 24"/>
          <p:cNvSpPr/>
          <p:nvPr/>
        </p:nvSpPr>
        <p:spPr>
          <a:xfrm>
            <a:off x="7443216" y="2962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424928" y="3447288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Transparencia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7424928" y="3813048"/>
            <a:ext cx="1719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Confirmado, inferido por intuición o directamente inventado.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473184" y="2761488"/>
            <a:ext cx="2084832" cy="2194560"/>
          </a:xfrm>
          <a:prstGeom prst="roundRect">
            <a:avLst>
              <a:gd name="adj" fmla="val 3509"/>
            </a:avLst>
          </a:prstGeom>
          <a:solidFill>
            <a:srgbClr val="F2F2F2"/>
          </a:solidFill>
          <a:ln/>
        </p:spPr>
      </p:sp>
      <p:sp>
        <p:nvSpPr>
          <p:cNvPr id="31" name="Shape 28"/>
          <p:cNvSpPr/>
          <p:nvPr/>
        </p:nvSpPr>
        <p:spPr>
          <a:xfrm>
            <a:off x="9674352" y="2962656"/>
            <a:ext cx="384048" cy="384048"/>
          </a:xfrm>
          <a:prstGeom prst="ellipse">
            <a:avLst/>
          </a:prstGeom>
          <a:solidFill>
            <a:srgbClr val="FFCE00"/>
          </a:solidFill>
          <a:ln/>
        </p:spPr>
      </p:sp>
      <p:sp>
        <p:nvSpPr>
          <p:cNvPr id="32" name="Text 29"/>
          <p:cNvSpPr/>
          <p:nvPr/>
        </p:nvSpPr>
        <p:spPr>
          <a:xfrm>
            <a:off x="9674352" y="2962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9656064" y="3447288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Responsive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9656064" y="3813048"/>
            <a:ext cx="17190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El mismo modelo, adaptado a smartphone.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2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E0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PANTALLAS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"Mis gestiones" — recorrido pantalla por pantalla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33375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7D0EA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Cada paso siguiente muestra la pantalla completa.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pic>
        <p:nvPicPr>
          <p:cNvPr id="4" name="Image 0" descr="C:\MLOF 01\VORTEX\CORREO ARGENTINO\Reclamos\Reclamos claude\hub\assets\CorreoArgentino-MiCorr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"/>
            <a:ext cx="1672699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12779" y="54864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Mis gestiones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234440"/>
            <a:ext cx="2304288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PUNTO DE PARTIDA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91919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Vista general, categoría "Todos"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48640" y="2350008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El nombre de la sección es "Mis gestiones".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3127248"/>
            <a:ext cx="4160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9 gestiones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Todos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 es la unión de las categorías visibles para </a:t>
            </a:r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este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 tipo de usuario, nunca el universo completo.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Buscador, chips y listado comparten el mismo ancho máximo, alineados.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La categoría por defecto es siempre "Todos".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5989320"/>
            <a:ext cx="1271016" cy="310896"/>
          </a:xfrm>
          <a:prstGeom prst="roundRect">
            <a:avLst>
              <a:gd name="adj" fmla="val 50000"/>
            </a:avLst>
          </a:prstGeom>
          <a:solidFill>
            <a:srgbClr val="E7EDFB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5989320"/>
            <a:ext cx="1271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D9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Individuo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01768" y="1344168"/>
            <a:ext cx="6668719" cy="4188524"/>
          </a:xfrm>
          <a:prstGeom prst="roundRect">
            <a:avLst>
              <a:gd name="adj" fmla="val 1746"/>
            </a:avLst>
          </a:prstGeom>
          <a:solidFill>
            <a:srgbClr val="191919"/>
          </a:solidFill>
          <a:ln/>
          <a:effectLst>
            <a:outerShdw sx="100000" sy="100000" kx="0" ky="0" algn="bl" rotWithShape="0" blurRad="152400" dist="50800" dir="5400000">
              <a:srgbClr val="152663">
                <a:alpha val="35000"/>
              </a:srgbClr>
            </a:outerShdw>
          </a:effectLst>
        </p:spPr>
      </p:sp>
      <p:pic>
        <p:nvPicPr>
          <p:cNvPr id="14" name="Image 1" descr="C:\MLOF 01\VORTEX\CORREO ARGENTINO\Reclamos\Reclamos claude\hub\presentaciones\screenshots\01-individuo-todo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0" y="1371600"/>
            <a:ext cx="6613855" cy="41336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pic>
        <p:nvPicPr>
          <p:cNvPr id="4" name="Image 0" descr="C:\MLOF 01\VORTEX\CORREO ARGENTINO\Reclamos\Reclamos claude\hub\assets\CorreoArgentino-MiCorr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"/>
            <a:ext cx="1672699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12779" y="54864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Categorías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482535" y="1234440"/>
            <a:ext cx="2889504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7528255" y="1234440"/>
            <a:ext cx="279806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ELEGIR UNA CATEGORÍA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482535" y="169164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91919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La categoría acota listado y contador juntos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482535" y="2606040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Con "Mi Cuenta" seleccionada, el listado baja a sus 2 gestiones y aparece el link "Limpiar filtro".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482535" y="3383280"/>
            <a:ext cx="4160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"Limpiar filtro" vive en la misma línea que el contador, alineado a la derecha.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Buscador y categoría se combinan entre sí.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Si la categoría elegida deja de estar disponible para el tipo de usuario, el filtro vuelve solo a "Todos".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482535" y="5989320"/>
            <a:ext cx="1271016" cy="310896"/>
          </a:xfrm>
          <a:prstGeom prst="roundRect">
            <a:avLst>
              <a:gd name="adj" fmla="val 50000"/>
            </a:avLst>
          </a:prstGeom>
          <a:solidFill>
            <a:srgbClr val="E7EDFB"/>
          </a:solidFill>
          <a:ln/>
        </p:spPr>
      </p:sp>
      <p:sp>
        <p:nvSpPr>
          <p:cNvPr id="12" name="Text 9"/>
          <p:cNvSpPr/>
          <p:nvPr/>
        </p:nvSpPr>
        <p:spPr>
          <a:xfrm>
            <a:off x="7482535" y="5989320"/>
            <a:ext cx="1271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D9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Individuo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21208" y="1344168"/>
            <a:ext cx="6668719" cy="4188524"/>
          </a:xfrm>
          <a:prstGeom prst="roundRect">
            <a:avLst>
              <a:gd name="adj" fmla="val 1746"/>
            </a:avLst>
          </a:prstGeom>
          <a:solidFill>
            <a:srgbClr val="191919"/>
          </a:solidFill>
          <a:ln/>
          <a:effectLst>
            <a:outerShdw sx="100000" sy="100000" kx="0" ky="0" algn="bl" rotWithShape="0" blurRad="152400" dist="50800" dir="5400000">
              <a:srgbClr val="152663">
                <a:alpha val="35000"/>
              </a:srgbClr>
            </a:outerShdw>
          </a:effectLst>
        </p:spPr>
      </p:sp>
      <p:pic>
        <p:nvPicPr>
          <p:cNvPr id="14" name="Image 1" descr="C:\MLOF 01\VORTEX\CORREO ARGENTINO\Reclamos\Reclamos claude\hub\presentaciones\screenshots\02-individuo-mi_cuent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1371600"/>
            <a:ext cx="6613855" cy="41336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pic>
        <p:nvPicPr>
          <p:cNvPr id="4" name="Image 0" descr="C:\MLOF 01\VORTEX\CORREO ARGENTINO\Reclamos\Reclamos claude\hub\assets\CorreoArgentino-MiCorr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"/>
            <a:ext cx="1672699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12779" y="54864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Transparencia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2889504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234440"/>
            <a:ext cx="279806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QUÉ ES REAL Y QUÉ NO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91919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El contenido inventado se marca en el propio texto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48640" y="2606040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2 de las 7 categorías todavía no tienen datos reales del negocio.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3383280"/>
            <a:ext cx="4160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Cada gestión de relleno termina literalmente en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"(Gestión inventada)"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No se inventan reglas de negocio — sólo contenido de layout, para que la pantalla no se vea vacía.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Por eso estas 2 categorías están ocultas por defecto hasta que exista contenido real — sólo se muestran activando un switch puntual.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Franquicias y Fulfillment, en cambio, sí tienen contenido confirmado por el negocio.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5989320"/>
            <a:ext cx="1271016" cy="310896"/>
          </a:xfrm>
          <a:prstGeom prst="roundRect">
            <a:avLst>
              <a:gd name="adj" fmla="val 50000"/>
            </a:avLst>
          </a:prstGeom>
          <a:solidFill>
            <a:srgbClr val="E7EDFB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5989320"/>
            <a:ext cx="1271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D9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Individuo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01768" y="1344168"/>
            <a:ext cx="6668719" cy="4188524"/>
          </a:xfrm>
          <a:prstGeom prst="roundRect">
            <a:avLst>
              <a:gd name="adj" fmla="val 1746"/>
            </a:avLst>
          </a:prstGeom>
          <a:solidFill>
            <a:srgbClr val="191919"/>
          </a:solidFill>
          <a:ln/>
          <a:effectLst>
            <a:outerShdw sx="100000" sy="100000" kx="0" ky="0" algn="bl" rotWithShape="0" blurRad="152400" dist="50800" dir="5400000">
              <a:srgbClr val="152663">
                <a:alpha val="35000"/>
              </a:srgbClr>
            </a:outerShdw>
          </a:effectLst>
        </p:spPr>
      </p:sp>
      <p:pic>
        <p:nvPicPr>
          <p:cNvPr id="14" name="Image 1" descr="C:\MLOF 01\VORTEX\CORREO ARGENTINO\Reclamos\Reclamos claude\hub\presentaciones\screenshots\03-individuo-paqueteria_internacion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0" y="1371600"/>
            <a:ext cx="6613855" cy="41336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E0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TIPOS DE USUARIO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Individuo, Pyme, Franquicias y Fulfillment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33375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7D0EA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El tipo de usuario no se ve como categoría — pero decide qué categorías existen para navegar.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pic>
        <p:nvPicPr>
          <p:cNvPr id="4" name="Image 0" descr="C:\MLOF 01\VORTEX\CORREO ARGENTINO\Reclamos\Reclamos claude\hub\assets\CorreoArgentino-MiCorr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"/>
            <a:ext cx="1672699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12779" y="54864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Franquicias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2889504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234440"/>
            <a:ext cx="279806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REGLA DE VISIBILIDAD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91919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Franquicias no ve la categoría Fulfillment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48640" y="2350008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Ve todo lo demás que ve Individuo, más su propia categoría.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3127248"/>
            <a:ext cx="4160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4 categorías visibles hoy: Mi Cuenta, Paquetería Nacional,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Franquicias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, Oficios Judiciales (Paquetería Internacional y Comunicaciones Digitales siguen ocultas por defecto).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"Todos" para este usuario trae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13 gestiones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, no 27.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La categoría "Fulfillment" directamente no existe en esta vista.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5989320"/>
            <a:ext cx="1472184" cy="310896"/>
          </a:xfrm>
          <a:prstGeom prst="roundRect">
            <a:avLst>
              <a:gd name="adj" fmla="val 50000"/>
            </a:avLst>
          </a:prstGeom>
          <a:solidFill>
            <a:srgbClr val="F6E8F4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5989320"/>
            <a:ext cx="1472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02B9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Franquicias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01768" y="1344168"/>
            <a:ext cx="6668719" cy="4188524"/>
          </a:xfrm>
          <a:prstGeom prst="roundRect">
            <a:avLst>
              <a:gd name="adj" fmla="val 1746"/>
            </a:avLst>
          </a:prstGeom>
          <a:solidFill>
            <a:srgbClr val="191919"/>
          </a:solidFill>
          <a:ln/>
          <a:effectLst>
            <a:outerShdw sx="100000" sy="100000" kx="0" ky="0" algn="bl" rotWithShape="0" blurRad="152400" dist="50800" dir="5400000">
              <a:srgbClr val="152663">
                <a:alpha val="35000"/>
              </a:srgbClr>
            </a:outerShdw>
          </a:effectLst>
        </p:spPr>
      </p:sp>
      <p:pic>
        <p:nvPicPr>
          <p:cNvPr id="14" name="Image 1" descr="C:\MLOF 01\VORTEX\CORREO ARGENTINO\Reclamos\Reclamos claude\hub\presentaciones\screenshots\04-franquicia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0" y="1371600"/>
            <a:ext cx="6613855" cy="41336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pic>
        <p:nvPicPr>
          <p:cNvPr id="4" name="Image 0" descr="C:\MLOF 01\VORTEX\CORREO ARGENTINO\Reclamos\Reclamos claude\hub\assets\CorreoArgentino-MiCorr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"/>
            <a:ext cx="1672699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12779" y="54864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Fulfillment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482535" y="1234440"/>
            <a:ext cx="2272284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7528255" y="1234440"/>
            <a:ext cx="218084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REGLA SIMÉTRICA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482535" y="169164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91919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Fulfillment no ve la categoría Franquicias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482535" y="2350008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La regla es simétrica a la anterior — nunca conviven ambas categorías para un mismo usuario.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482535" y="3127248"/>
            <a:ext cx="4160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4 categorías visibles hoy, con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Fulfillment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 en vez de Franquicias (mismas 2 ocultas por defecto).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Acá filtrado por su propia categoría: 6 gestiones confirmadas por el negocio.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Individuo y Pyme, en cambio, no ven ni Franquicias ni Fulfillment.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482535" y="5989320"/>
            <a:ext cx="1472184" cy="310896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</p:sp>
      <p:sp>
        <p:nvSpPr>
          <p:cNvPr id="12" name="Text 9"/>
          <p:cNvSpPr/>
          <p:nvPr/>
        </p:nvSpPr>
        <p:spPr>
          <a:xfrm>
            <a:off x="7482535" y="5989320"/>
            <a:ext cx="1472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7C0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Fulfillment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21208" y="1344168"/>
            <a:ext cx="6668719" cy="4188524"/>
          </a:xfrm>
          <a:prstGeom prst="roundRect">
            <a:avLst>
              <a:gd name="adj" fmla="val 1746"/>
            </a:avLst>
          </a:prstGeom>
          <a:solidFill>
            <a:srgbClr val="191919"/>
          </a:solidFill>
          <a:ln/>
          <a:effectLst>
            <a:outerShdw sx="100000" sy="100000" kx="0" ky="0" algn="bl" rotWithShape="0" blurRad="152400" dist="50800" dir="5400000">
              <a:srgbClr val="152663">
                <a:alpha val="35000"/>
              </a:srgbClr>
            </a:outerShdw>
          </a:effectLst>
        </p:spPr>
      </p:sp>
      <p:pic>
        <p:nvPicPr>
          <p:cNvPr id="14" name="Image 1" descr="C:\MLOF 01\VORTEX\CORREO ARGENTINO\Reclamos\Reclamos claude\hub\presentaciones\screenshots\05-fulfillmen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1371600"/>
            <a:ext cx="6613855" cy="41336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E0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BÚSQUEDA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Encontrar sin escribir el texto exacto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33375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7D0EA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Cada gestión tiene hasta 10 tags de búsqueda — sinónimos y nombre de categoría.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pic>
        <p:nvPicPr>
          <p:cNvPr id="4" name="Image 0" descr="C:\MLOF 01\VORTEX\CORREO ARGENTINO\Reclamos\Reclamos claude\hub\assets\CorreoArgentino-MiCorr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"/>
            <a:ext cx="1672699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12779" y="54864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Buscador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234440"/>
            <a:ext cx="2304288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TAGS DE SINÓNIMO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91919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"Justicia" encuentra un motivo que no dice "justicia"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48640" y="2606040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La gestión se llama "Inconvenientes con el pago de oficios judiciales" — la palabra no está en el texto visible.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3383280"/>
            <a:ext cx="4160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Tags de esa gestión: </a:t>
            </a:r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justicia, citación, oficial, cobro, error, falla, judicial, pago, problema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Reglas de patrón aplicadas a las 27 gestiones: "error" → tag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falla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; "demora"/"problema(s)" → tag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problema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.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Los tags no son un dato de negocio confirmado — son una propuesta de diseño.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01768" y="1344168"/>
            <a:ext cx="6668719" cy="4188524"/>
          </a:xfrm>
          <a:prstGeom prst="roundRect">
            <a:avLst>
              <a:gd name="adj" fmla="val 1746"/>
            </a:avLst>
          </a:prstGeom>
          <a:solidFill>
            <a:srgbClr val="191919"/>
          </a:solidFill>
          <a:ln/>
          <a:effectLst>
            <a:outerShdw sx="100000" sy="100000" kx="0" ky="0" algn="bl" rotWithShape="0" blurRad="152400" dist="50800" dir="5400000">
              <a:srgbClr val="152663">
                <a:alpha val="35000"/>
              </a:srgbClr>
            </a:outerShdw>
          </a:effectLst>
        </p:spPr>
      </p:sp>
      <p:pic>
        <p:nvPicPr>
          <p:cNvPr id="12" name="Image 1" descr="C:\MLOF 01\VORTEX\CORREO ARGENTINO\Reclamos\Reclamos claude\hub\presentaciones\screenshots\06-buscar-justici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0" y="1371600"/>
            <a:ext cx="6613855" cy="41336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pic>
        <p:nvPicPr>
          <p:cNvPr id="4" name="Image 0" descr="C:\MLOF 01\VORTEX\CORREO ARGENTINO\Reclamos\Reclamos claude\hub\assets\CorreoArgentino-MiCorr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"/>
            <a:ext cx="1672699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12779" y="54864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Buscador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482535" y="1234440"/>
            <a:ext cx="3877056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7528255" y="1234440"/>
            <a:ext cx="3785616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NOMBRE DE CATEGORÍA COMO TAG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482535" y="169164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91919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Buscar "Mi Cuenta" trae todo su contenido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482535" y="2350008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Sin tocar ninguna categoría — con "Todos" seleccionado, escribir el nombre de una categoría alcanza.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482535" y="3127248"/>
            <a:ext cx="4160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Cada gestión lleva el nombre de su propia categoría como tag más.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Se matchea igual que cualquier otro tag de búsqueda.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Aplica a las 7 categorías por igual.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21208" y="1344168"/>
            <a:ext cx="6668719" cy="4188524"/>
          </a:xfrm>
          <a:prstGeom prst="roundRect">
            <a:avLst>
              <a:gd name="adj" fmla="val 1746"/>
            </a:avLst>
          </a:prstGeom>
          <a:solidFill>
            <a:srgbClr val="191919"/>
          </a:solidFill>
          <a:ln/>
          <a:effectLst>
            <a:outerShdw sx="100000" sy="100000" kx="0" ky="0" algn="bl" rotWithShape="0" blurRad="152400" dist="50800" dir="5400000">
              <a:srgbClr val="152663">
                <a:alpha val="35000"/>
              </a:srgbClr>
            </a:outerShdw>
          </a:effectLst>
        </p:spPr>
      </p:sp>
      <p:pic>
        <p:nvPicPr>
          <p:cNvPr id="12" name="Image 1" descr="C:\MLOF 01\VORTEX\CORREO ARGENTINO\Reclamos\Reclamos claude\hub\presentaciones\screenshots\07-buscar-mi_cuent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1371600"/>
            <a:ext cx="6613855" cy="41336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pic>
        <p:nvPicPr>
          <p:cNvPr id="4" name="Image 0" descr="C:\MLOF 01\VORTEX\CORREO ARGENTINO\Reclamos\Reclamos claude\hub\assets\CorreoArgentino-MiCorr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"/>
            <a:ext cx="1672699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12779" y="54864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Responsive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234440"/>
            <a:ext cx="2304288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PANTALLA ANGOSTA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169164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91919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El mismo modelo en ancho de smartphone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48640" y="2350008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La misma pantalla, adaptada a un ancho típico de mobile.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3127248"/>
            <a:ext cx="4160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El menú lateral se colapsa a un ícono de hamburguesa; el encabezado queda vacío salvo ese menú.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El padding lateral del contenido se reduce.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Categorías, buscador y listado se recalculan igual que en desktop.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01768" y="1344168"/>
            <a:ext cx="6668719" cy="4188524"/>
          </a:xfrm>
          <a:prstGeom prst="roundRect">
            <a:avLst>
              <a:gd name="adj" fmla="val 1746"/>
            </a:avLst>
          </a:prstGeom>
          <a:solidFill>
            <a:srgbClr val="191919"/>
          </a:solidFill>
          <a:ln/>
          <a:effectLst>
            <a:outerShdw sx="100000" sy="100000" kx="0" ky="0" algn="bl" rotWithShape="0" blurRad="152400" dist="50800" dir="5400000">
              <a:srgbClr val="152663">
                <a:alpha val="35000"/>
              </a:srgbClr>
            </a:outerShdw>
          </a:effectLst>
        </p:spPr>
      </p:sp>
      <p:pic>
        <p:nvPicPr>
          <p:cNvPr id="12" name="Image 1" descr="C:\MLOF 01\VORTEX\CORREO ARGENTINO\Reclamos\Reclamos claude\hub\presentaciones\screenshots\08-responsiv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0" y="1371600"/>
            <a:ext cx="6613855" cy="41336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26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91695" cy="566928"/>
          </a:xfrm>
          <a:prstGeom prst="rect">
            <a:avLst/>
          </a:prstGeom>
          <a:solidFill>
            <a:srgbClr val="FFCE00"/>
          </a:solidFill>
          <a:ln/>
        </p:spPr>
      </p:sp>
      <p:pic>
        <p:nvPicPr>
          <p:cNvPr id="4" name="Image 0" descr="C:\MLOF 01\VORTEX\CORREO ARGENTINO\Reclamos\Reclamos claude\hub\assets\CorreoArgentino-MiCorr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"/>
            <a:ext cx="1672699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12779" y="54864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Pendiente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4617720" cy="329184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960120"/>
            <a:ext cx="4526280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LO QUE FALTA CERRAR CON EL NEGOCIO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Definiciones abiertas, ninguna resuelta por inferencia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48640" y="19842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Ninguno de estos puntos fue asumido — quedan como preguntas explícitas.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624328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F2F2F2"/>
          </a:solidFill>
          <a:ln/>
        </p:spPr>
      </p:sp>
      <p:sp>
        <p:nvSpPr>
          <p:cNvPr id="11" name="Shape 8"/>
          <p:cNvSpPr/>
          <p:nvPr/>
        </p:nvSpPr>
        <p:spPr>
          <a:xfrm>
            <a:off x="850392" y="2871216"/>
            <a:ext cx="402336" cy="402336"/>
          </a:xfrm>
          <a:prstGeom prst="ellipse">
            <a:avLst/>
          </a:prstGeom>
          <a:ln w="25400">
            <a:solidFill>
              <a:srgbClr val="15266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" y="28529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?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734056"/>
            <a:ext cx="9784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Agrupaciones por intuición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417320" y="3044952"/>
            <a:ext cx="9784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Mi Cuenta, Paquetería Nacional y Oficios Judiciales se armaron reagrupando motivos ya conocidos — el negocio todavía no las validó.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61188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F2F2F2"/>
          </a:solidFill>
          <a:ln/>
        </p:spPr>
      </p:sp>
      <p:sp>
        <p:nvSpPr>
          <p:cNvPr id="16" name="Shape 13"/>
          <p:cNvSpPr/>
          <p:nvPr/>
        </p:nvSpPr>
        <p:spPr>
          <a:xfrm>
            <a:off x="850392" y="3858768"/>
            <a:ext cx="402336" cy="402336"/>
          </a:xfrm>
          <a:prstGeom prst="ellipse">
            <a:avLst/>
          </a:prstGeom>
          <a:ln w="25400">
            <a:solidFill>
              <a:srgbClr val="15266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0392" y="38404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?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417320" y="3721608"/>
            <a:ext cx="9784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Contenido real pendiente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417320" y="4032504"/>
            <a:ext cx="9784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Paquetería Internacional y Mis Comunicaciones Digitales necesitan gestiones reales que reemplacen el contenido inventado — hasta entonces quedan ocultas por defecto.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4599432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F2F2F2"/>
          </a:solidFill>
          <a:ln/>
        </p:spPr>
      </p:sp>
      <p:sp>
        <p:nvSpPr>
          <p:cNvPr id="21" name="Shape 18"/>
          <p:cNvSpPr/>
          <p:nvPr/>
        </p:nvSpPr>
        <p:spPr>
          <a:xfrm>
            <a:off x="850392" y="4846320"/>
            <a:ext cx="402336" cy="402336"/>
          </a:xfrm>
          <a:prstGeom prst="ellipse">
            <a:avLst/>
          </a:prstGeom>
          <a:ln w="25400">
            <a:solidFill>
              <a:srgbClr val="15266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0392" y="4828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?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417320" y="4709160"/>
            <a:ext cx="9784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Pantalla de detalle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1417320" y="5020056"/>
            <a:ext cx="9784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La pantalla de detalle de una gestión todavía no está definida.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5586984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F2F2F2"/>
          </a:solidFill>
          <a:ln/>
        </p:spPr>
      </p:sp>
      <p:sp>
        <p:nvSpPr>
          <p:cNvPr id="26" name="Shape 23"/>
          <p:cNvSpPr/>
          <p:nvPr/>
        </p:nvSpPr>
        <p:spPr>
          <a:xfrm>
            <a:off x="850392" y="5833872"/>
            <a:ext cx="402336" cy="402336"/>
          </a:xfrm>
          <a:prstGeom prst="ellipse">
            <a:avLst/>
          </a:prstGeom>
          <a:ln w="25400">
            <a:solidFill>
              <a:srgbClr val="15266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0392" y="58155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663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?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417320" y="5696712"/>
            <a:ext cx="9784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919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Nombre definitivo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1417320" y="6007608"/>
            <a:ext cx="9784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9454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"Mis gestiones" es el nombre vigente de la propuesta, sujeto a validación.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26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CE0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FIN DEL RECORRIDO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Categorías reales, transparencia sobre lo inventado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34747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3474720"/>
            <a:ext cx="1152144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Categorías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56232" y="34747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E0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75688" y="34747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093976" y="3474720"/>
            <a:ext cx="1700784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Tipos de usuario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94760" y="34747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E0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014216" y="3474720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032504" y="3474720"/>
            <a:ext cx="969264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Búsqueda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01768" y="347472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E00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221224" y="34747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239512" y="3474720"/>
            <a:ext cx="1426464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Transparencia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434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D0EA"/>
                </a:solidFill>
                <a:latin typeface="Gilroy" pitchFamily="34" charset="0"/>
                <a:ea typeface="Gilroy" pitchFamily="34" charset="-122"/>
                <a:cs typeface="Gilroy" pitchFamily="34" charset="-120"/>
              </a:rPr>
              <a:t>Presentación V1 · "Mis gestiones" — MiCorreo · Correo Argentino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2026-09-03T19:17:07Z</dcterms:created>
  <dcterms:modified xsi:type="dcterms:W3CDTF">2026-09-03T19:17:07Z</dcterms:modified>
</cp:coreProperties>
</file>